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56" r:id="rId3"/>
    <p:sldId id="303" r:id="rId5"/>
    <p:sldId id="304" r:id="rId6"/>
    <p:sldId id="284" r:id="rId7"/>
    <p:sldId id="306" r:id="rId8"/>
    <p:sldId id="285" r:id="rId9"/>
    <p:sldId id="282" r:id="rId10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Sprint Summary" id="{B9B51309-D148-4332-87C2-07BE32FBCA3B}">
          <p14:sldIdLst>
            <p14:sldId id="303"/>
            <p14:sldId id="304"/>
            <p14:sldId id="284"/>
            <p14:sldId id="306"/>
            <p14:sldId id="285"/>
          </p14:sldIdLst>
        </p14:section>
        <p14:section name="Feedback" id="{2CC34DB2-6590-42C0-AD4B-A04C6060184E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6" userDrawn="1">
          <p15:clr>
            <a:srgbClr val="A4A3A4"/>
          </p15:clr>
        </p15:guide>
        <p15:guide id="2" pos="393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B45"/>
    <a:srgbClr val="F8CAB6"/>
    <a:srgbClr val="DD462F"/>
    <a:srgbClr val="D24726"/>
    <a:srgbClr val="404040"/>
    <a:srgbClr val="F8CF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 autoAdjust="0"/>
    <p:restoredTop sz="93907" autoAdjust="0"/>
  </p:normalViewPr>
  <p:slideViewPr>
    <p:cSldViewPr snapToGrid="0" showGuides="1">
      <p:cViewPr varScale="1">
        <p:scale>
          <a:sx n="67" d="100"/>
          <a:sy n="67" d="100"/>
        </p:scale>
        <p:origin x="66" y="78"/>
      </p:cViewPr>
      <p:guideLst>
        <p:guide orient="horz" pos="2206"/>
        <p:guide pos="39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ommentAuthors" Target="comment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0680FBE-A8DF-4758-9AC4-3A9E1039168F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C679768-A2FC-4D08-91F6-8DCE6C566B36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C13577B-6902-467D-A26C-08A0DD5E4E03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F61EA0F-A667-4B49-8422-0062BC55E24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aseline="0" dirty="0"/>
              <a:t>Slide Show mode, select the arrows to visit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  <a:endParaRPr lang="en-US"/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  <a:endParaRPr lang="en-US"/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  <a:endParaRPr lang="en-US"/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  <a:endParaRPr lang="en-US"/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  <a:endParaRPr lang="en-US"/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  <a:endParaRPr lang="en-US"/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  <a:endParaRPr lang="en-US"/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  <a:endParaRPr lang="en-US"/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paragraph text_1 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219200" y="2590800"/>
            <a:ext cx="9753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1219200" y="3352800"/>
            <a:ext cx="9753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Click to add text</a:t>
            </a: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anchor="ctr" anchorCtr="0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POD D Sprint Review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vert="horz" lIns="91440" tIns="45720" rIns="91440" bIns="45720" rtlCol="0" anchor="t">
            <a:normAutofit fontScale="70000" lnSpcReduction="10000"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2026-Sprint-29</a:t>
            </a:r>
            <a:endParaRPr lang="en-US" sz="2400" b="1" dirty="0">
              <a:solidFill>
                <a:schemeClr val="bg1"/>
              </a:solidFill>
            </a:endParaRP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Sprint Dates: 10/14/2026 – 10/27/2026</a:t>
            </a:r>
            <a:endParaRPr lang="en-US" sz="2400" b="1" dirty="0">
              <a:solidFill>
                <a:schemeClr val="bg1"/>
              </a:solidFill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5450" y="302895"/>
            <a:ext cx="6351270" cy="519430"/>
          </a:xfrm>
        </p:spPr>
        <p:txBody>
          <a:bodyPr>
            <a:normAutofit fontScale="90000"/>
          </a:bodyPr>
          <a:lstStyle/>
          <a:p>
            <a:r>
              <a:rPr lang="en-US" altLang="en-IN" b="1" dirty="0">
                <a:solidFill>
                  <a:srgbClr val="002060"/>
                </a:solidFill>
              </a:rPr>
              <a:t>	Sprint (POD_D_2026_29)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15160" y="2801993"/>
            <a:ext cx="11001375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R="0"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lang="en-US" sz="160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/>
              </a:rPr>
              <a:t>[TBD] : </a:t>
            </a:r>
            <a:endParaRPr lang="en-US" sz="1600" b="1" dirty="0">
              <a:solidFill>
                <a:srgbClr val="000000"/>
              </a:solidFill>
              <a:latin typeface="Calibri" panose="020F0502020204030204"/>
            </a:endParaRPr>
          </a:p>
          <a:p>
            <a:pPr indent="0" algn="just">
              <a:buFont typeface="Wingdings" panose="05000000000000000000" pitchFamily="2" charset="2"/>
              <a:buNone/>
            </a:pPr>
            <a:endParaRPr lang="en-US" sz="1400" i="0" u="none" strike="noStrike" dirty="0">
              <a:solidFill>
                <a:srgbClr val="000000"/>
              </a:solidFill>
              <a:effectLst/>
              <a:latin typeface="Segoe Print" panose="02000600000000000000" charset="0"/>
              <a:cs typeface="Calibri" panose="020F0502020204030204"/>
            </a:endParaRPr>
          </a:p>
          <a:p>
            <a:pPr algn="just" fontAlgn="b"/>
            <a:endParaRPr lang="en-US" sz="1200" b="1" dirty="0">
              <a:latin typeface="Calibri" panose="020F0502020204030204"/>
              <a:cs typeface="Calibri" panose="020F0502020204030204"/>
            </a:endParaRPr>
          </a:p>
          <a:p>
            <a:pPr marL="171450" indent="-171450" algn="just" fontAlgn="b">
              <a:buFont typeface="Wingdings" panose="05000000000000000000" charset="0"/>
              <a:buChar char=""/>
            </a:pPr>
            <a:endParaRPr lang="en-US" sz="1100" dirty="0">
              <a:latin typeface="+mn-ea"/>
              <a:cs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0" y="822325"/>
            <a:ext cx="12192635" cy="6782435"/>
          </a:xfr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457200" lvl="2" indent="0" algn="l">
              <a:lnSpc>
                <a:spcPct val="10000"/>
              </a:lnSpc>
              <a:buNone/>
            </a:pPr>
            <a:endParaRPr sz="1600" b="1" dirty="0">
              <a:solidFill>
                <a:srgbClr val="000000"/>
              </a:solidFill>
              <a:latin typeface="Calibri" panose="020F0502020204030204"/>
              <a:sym typeface="+mn-ea"/>
            </a:endParaRPr>
          </a:p>
          <a:p>
            <a:pPr marL="457200" lvl="2" algn="l">
              <a:lnSpc>
                <a:spcPct val="10000"/>
              </a:lnSpc>
              <a:buClrTx/>
              <a:buSzTx/>
              <a:buNone/>
            </a:pPr>
            <a:r>
              <a:rPr lang="en-IN" altLang="en-US" sz="1600" b="1">
                <a:sym typeface="+mn-ea"/>
              </a:rPr>
              <a:t>Sprint 29 Overview</a:t>
            </a:r>
            <a:endParaRPr lang="en-IN" altLang="en-US" sz="1600" b="1">
              <a:sym typeface="+mn-ea"/>
            </a:endParaRPr>
          </a:p>
          <a:p>
            <a:pPr marL="457200" lvl="3" algn="l">
              <a:lnSpc>
                <a:spcPct val="90000"/>
              </a:lnSpc>
              <a:buClrTx/>
              <a:buSzTx/>
              <a:buNone/>
            </a:pPr>
            <a:r>
              <a:rPr lang="en-US" altLang="en-US" sz="1600">
                <a:sym typeface="+mn-ea"/>
              </a:rPr>
              <a:t>[TBD] Sprint 29 story – ticket #</a:t>
            </a:r>
            <a:endParaRPr lang="en-IN" altLang="en-US" sz="1600" b="1">
              <a:sym typeface="+mn-ea"/>
            </a:endParaRPr>
          </a:p>
          <a:p>
            <a:pPr marL="0" lvl="1" indent="0" algn="l">
              <a:lnSpc>
                <a:spcPct val="20000"/>
              </a:lnSpc>
              <a:buNone/>
            </a:pPr>
            <a:r>
              <a:rPr lang="en-IN" altLang="en-US" sz="1800" b="1">
                <a:sym typeface="+mn-ea"/>
              </a:rPr>
              <a:t>    Prod Support</a:t>
            </a:r>
            <a:endParaRPr lang="en-IN" altLang="en-US" sz="1800" b="1">
              <a:sym typeface="+mn-ea"/>
            </a:endParaRPr>
          </a:p>
          <a:p>
            <a:pPr marL="0" lvl="1" indent="0" algn="l">
              <a:lnSpc>
                <a:spcPct val="20000"/>
              </a:lnSpc>
              <a:buNone/>
            </a:pPr>
            <a:r>
              <a:rPr lang="en-IN" altLang="en-US" sz="1800" b="1">
                <a:sym typeface="+mn-ea"/>
              </a:rPr>
              <a:t>    [TBD] Prod support item – ticket #</a:t>
            </a:r>
            <a:endParaRPr altLang="en-US" sz="1600">
              <a:solidFill>
                <a:schemeClr val="tx1">
                  <a:lumMod val="95000"/>
                  <a:lumOff val="5000"/>
                </a:schemeClr>
              </a:solidFill>
              <a:sym typeface="+mn-ea"/>
            </a:endParaRPr>
          </a:p>
          <a:p>
            <a:pPr marL="0" lvl="2" indent="0" algn="l">
              <a:lnSpc>
                <a:spcPct val="20000"/>
              </a:lnSpc>
              <a:buNone/>
            </a:pPr>
            <a:endParaRPr lang="en-US" altLang="en-US" sz="1800" b="1">
              <a:sym typeface="+mn-ea"/>
            </a:endParaRPr>
          </a:p>
          <a:p>
            <a:pPr marL="0" lvl="1" indent="0" algn="l">
              <a:lnSpc>
                <a:spcPct val="20000"/>
              </a:lnSpc>
              <a:buNone/>
            </a:pPr>
            <a:endParaRPr lang="en-IN" altLang="en-US" sz="1800" b="1">
              <a:sym typeface="+mn-ea"/>
            </a:endParaRPr>
          </a:p>
          <a:p>
            <a:pPr marL="0" lvl="1" indent="0" algn="l">
              <a:lnSpc>
                <a:spcPct val="20000"/>
              </a:lnSpc>
              <a:buNone/>
            </a:pPr>
            <a:endParaRPr lang="en-US" altLang="en-US" sz="1600" b="1" dirty="0">
              <a:solidFill>
                <a:srgbClr val="000000"/>
              </a:solidFill>
              <a:latin typeface="Calibri" panose="020F0502020204030204"/>
              <a:sym typeface="+mn-ea"/>
            </a:endParaRPr>
          </a:p>
          <a:p>
            <a:pPr marL="457200" lvl="2" indent="0" algn="l">
              <a:lnSpc>
                <a:spcPct val="20000"/>
              </a:lnSpc>
              <a:buNone/>
            </a:pPr>
            <a:endParaRPr lang="en-US" altLang="en-US" sz="1600" dirty="0">
              <a:solidFill>
                <a:srgbClr val="000000"/>
              </a:solidFill>
              <a:latin typeface="Calibri" panose="020F0502020204030204"/>
              <a:sym typeface="+mn-ea"/>
            </a:endParaRPr>
          </a:p>
          <a:p>
            <a:pPr marL="457200" lvl="2" indent="0" algn="l">
              <a:lnSpc>
                <a:spcPct val="70000"/>
              </a:lnSpc>
              <a:buNone/>
            </a:pPr>
            <a:endParaRPr lang="en-US" altLang="en-US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9" name="Table 18"/>
          <p:cNvGraphicFramePr/>
          <p:nvPr>
            <p:custDataLst>
              <p:tags r:id="rId1"/>
            </p:custDataLst>
          </p:nvPr>
        </p:nvGraphicFramePr>
        <p:xfrm>
          <a:off x="12759055" y="822325"/>
          <a:ext cx="76835" cy="5155565"/>
        </p:xfrm>
        <a:graphic>
          <a:graphicData uri="http://schemas.openxmlformats.org/drawingml/2006/table">
            <a:tbl>
              <a:tblPr/>
              <a:tblGrid>
                <a:gridCol w="76835"/>
              </a:tblGrid>
              <a:tr h="5155565">
                <a:tc>
                  <a:txBody>
                    <a:bodyPr/>
                    <a:p>
                      <a:pPr marL="38100" indent="0" algn="l" fontAlgn="t"/>
                      <a:br>
                        <a:rPr sz="400" b="0" i="0">
                          <a:solidFill>
                            <a:srgbClr val="172B4D"/>
                          </a:solidFill>
                          <a:latin typeface="-apple-system"/>
                          <a:ea typeface="-apple-system"/>
                        </a:rPr>
                      </a:br>
                      <a:r>
                        <a:rPr sz="400" b="0" i="0">
                          <a:solidFill>
                            <a:srgbClr val="172B4D"/>
                          </a:solidFill>
                          <a:latin typeface="-apple-system"/>
                          <a:ea typeface="-apple-system"/>
                        </a:rPr>
                        <a:t/>
                      </a:r>
                      <a:endParaRPr sz="400" b="0" i="0">
                        <a:solidFill>
                          <a:srgbClr val="172B4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8417" marR="38417" marT="76517" marB="765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/>
              <a:t>Next Sprint 30_2026 Goals:</a:t>
            </a:r>
            <a:endParaRPr lang="en-IN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635" y="4130040"/>
            <a:ext cx="980440" cy="1283335"/>
          </a:xfrm>
        </p:spPr>
        <p:txBody>
          <a:bodyPr/>
          <a:p>
            <a:pPr marL="457200" lvl="2" indent="0">
              <a:lnSpc>
                <a:spcPct val="70000"/>
              </a:lnSpc>
              <a:buNone/>
            </a:pPr>
            <a:endParaRPr lang="en-IN" altLang="en-US" sz="1800" u="sng" dirty="0">
              <a:solidFill>
                <a:srgbClr val="000000"/>
              </a:solidFill>
              <a:latin typeface="Calibri" panose="020F0502020204030204"/>
              <a:sym typeface="+mn-ea"/>
            </a:endParaRPr>
          </a:p>
          <a:p>
            <a:pPr marL="457200" lvl="2" indent="0" algn="l">
              <a:lnSpc>
                <a:spcPct val="60000"/>
              </a:lnSpc>
              <a:buNone/>
            </a:pPr>
            <a:endParaRPr lang="en-US" sz="1800"/>
          </a:p>
        </p:txBody>
      </p:sp>
      <p:sp>
        <p:nvSpPr>
          <p:cNvPr id="5" name="Text Box 4"/>
          <p:cNvSpPr txBox="1"/>
          <p:nvPr/>
        </p:nvSpPr>
        <p:spPr>
          <a:xfrm>
            <a:off x="193675" y="1189990"/>
            <a:ext cx="11767820" cy="5506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marL="0" lvl="2" algn="l">
              <a:lnSpc>
                <a:spcPct val="180000"/>
              </a:lnSpc>
              <a:buClrTx/>
              <a:buSzTx/>
              <a:buNone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[TBD] Sprint 30 goal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2" algn="l">
              <a:lnSpc>
                <a:spcPct val="180000"/>
              </a:lnSpc>
              <a:buClrTx/>
              <a:buSzTx/>
              <a:buNone/>
            </a:pP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7650" y="448310"/>
            <a:ext cx="6172200" cy="640080"/>
          </a:xfrm>
        </p:spPr>
        <p:txBody>
          <a:bodyPr/>
          <a:lstStyle/>
          <a:p>
            <a:pPr algn="ctr"/>
            <a:r>
              <a:rPr lang="en-US" b="1" dirty="0"/>
              <a:t>Sprint Status</a:t>
            </a:r>
            <a:endParaRPr lang="en-US" b="1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ph sz="quarter" idx="10"/>
            <p:custDataLst>
              <p:tags r:id="rId1"/>
            </p:custDataLst>
          </p:nvPr>
        </p:nvGraphicFramePr>
        <p:xfrm>
          <a:off x="584835" y="1127760"/>
          <a:ext cx="11337290" cy="192341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21155"/>
                <a:gridCol w="1572260"/>
                <a:gridCol w="1764665"/>
                <a:gridCol w="2141855"/>
                <a:gridCol w="2095500"/>
                <a:gridCol w="2141855"/>
              </a:tblGrid>
              <a:tr h="77025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Story/Task Planned #</a:t>
                      </a:r>
                      <a:endParaRPr lang="en-US" b="1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Story/Task</a:t>
                      </a:r>
                      <a:endParaRPr lang="en-US" b="1" dirty="0"/>
                    </a:p>
                    <a:p>
                      <a:pPr algn="ctr"/>
                      <a:r>
                        <a:rPr lang="en-US" b="1" dirty="0"/>
                        <a:t>Completed #</a:t>
                      </a:r>
                      <a:endParaRPr lang="en-US" b="1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Story QA Ready</a:t>
                      </a:r>
                      <a:endParaRPr lang="en-US" b="1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Story Points Planned</a:t>
                      </a:r>
                      <a:endParaRPr lang="en-US" b="1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Story Points Actual</a:t>
                      </a:r>
                      <a:endParaRPr lang="en-US" b="1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Story Points In QA</a:t>
                      </a:r>
                      <a:endParaRPr lang="en-US" b="1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/>
                        <a:t/>
                      </a:r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/>
                        <a:t/>
                      </a:r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/>
                        <a:t/>
                      </a:r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/>
                        <a:t/>
                      </a:r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/>
                        <a:t/>
                      </a:r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dirty="0"/>
                        <a:t/>
                      </a:r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45770">
                <a:tc>
                  <a:txBody>
                    <a:bodyPr/>
                    <a:p>
                      <a:pPr algn="ctr">
                        <a:buNone/>
                      </a:pPr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4"/>
          <p:cNvGraphicFramePr/>
          <p:nvPr>
            <p:custDataLst>
              <p:tags r:id="rId2"/>
            </p:custDataLst>
          </p:nvPr>
        </p:nvGraphicFramePr>
        <p:xfrm>
          <a:off x="584200" y="2953385"/>
          <a:ext cx="5749925" cy="124333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80490"/>
                <a:gridCol w="1920875"/>
                <a:gridCol w="2448560"/>
              </a:tblGrid>
              <a:tr h="51181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Total</a:t>
                      </a:r>
                      <a:endParaRPr lang="en-US" b="1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Defects Closed</a:t>
                      </a:r>
                      <a:endParaRPr lang="en-US" b="1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Defects Outstanding</a:t>
                      </a:r>
                      <a:endParaRPr lang="en-US" b="1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/>
                        <a:t/>
                      </a:r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/>
                        <a:t/>
                      </a:r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/>
                        <a:t/>
                      </a:r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4"/>
          <p:cNvGraphicFramePr/>
          <p:nvPr/>
        </p:nvGraphicFramePr>
        <p:xfrm>
          <a:off x="643870" y="4970783"/>
          <a:ext cx="5690022" cy="805815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909806"/>
                <a:gridCol w="1890108"/>
                <a:gridCol w="1890108"/>
              </a:tblGrid>
              <a:tr h="434975">
                <a:tc>
                  <a:txBody>
                    <a:bodyPr/>
                    <a:lstStyle/>
                    <a:p>
                      <a:pPr algn="ctr"/>
                      <a:endParaRPr lang="en-US" b="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Critical</a:t>
                      </a:r>
                      <a:endParaRPr lang="en-US" b="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High</a:t>
                      </a:r>
                      <a:endParaRPr lang="en-US" b="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baseline="0" noProof="0" dirty="0"/>
                        <a:t>Defects Overall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 4"/>
          <p:cNvGraphicFramePr/>
          <p:nvPr>
            <p:custDataLst>
              <p:tags r:id="rId3"/>
            </p:custDataLst>
          </p:nvPr>
        </p:nvGraphicFramePr>
        <p:xfrm>
          <a:off x="6750050" y="2983230"/>
          <a:ext cx="5241925" cy="28346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22450"/>
                <a:gridCol w="1811020"/>
                <a:gridCol w="1608455"/>
              </a:tblGrid>
              <a:tr h="472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Dev Details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Closed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Outstanding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Ad-hoc test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/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Prod support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Regr. testing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en-IN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Dev/QA/UAT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Uncategorized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en-IN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IN" altLang="en-US" b="1"/>
              <a:t>                                Demo Tickets</a:t>
            </a:r>
            <a:endParaRPr lang="en-IN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635" y="4130040"/>
            <a:ext cx="980440" cy="1283335"/>
          </a:xfrm>
        </p:spPr>
        <p:txBody>
          <a:bodyPr/>
          <a:p>
            <a:pPr marL="457200" lvl="2" indent="0">
              <a:lnSpc>
                <a:spcPct val="70000"/>
              </a:lnSpc>
              <a:buNone/>
            </a:pPr>
            <a:endParaRPr lang="en-IN" altLang="en-US" sz="1800" u="sng" dirty="0">
              <a:solidFill>
                <a:srgbClr val="000000"/>
              </a:solidFill>
              <a:latin typeface="Calibri" panose="020F0502020204030204"/>
              <a:sym typeface="+mn-ea"/>
            </a:endParaRPr>
          </a:p>
          <a:p>
            <a:pPr marL="457200" lvl="2" indent="0" algn="l">
              <a:lnSpc>
                <a:spcPct val="60000"/>
              </a:lnSpc>
              <a:buNone/>
            </a:pPr>
            <a:endParaRPr lang="en-US" sz="1800"/>
          </a:p>
        </p:txBody>
      </p:sp>
      <p:sp>
        <p:nvSpPr>
          <p:cNvPr id="5" name="Text Box 4"/>
          <p:cNvSpPr txBox="1"/>
          <p:nvPr/>
        </p:nvSpPr>
        <p:spPr>
          <a:xfrm>
            <a:off x="278130" y="1085850"/>
            <a:ext cx="11635105" cy="57721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marL="457200" lvl="2" algn="l">
              <a:lnSpc>
                <a:spcPct val="150000"/>
              </a:lnSpc>
              <a:buClrTx/>
              <a:buSzTx/>
              <a:buNone/>
            </a:pPr>
            <a:endParaRPr lang="en-IN" altLang="en-US" sz="16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278130" y="1085850"/>
          <a:ext cx="11635740" cy="3216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8717915"/>
                <a:gridCol w="1470025"/>
              </a:tblGrid>
              <a:tr h="5810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Ticket No.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Summary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Status</a:t>
                      </a:r>
                      <a:endParaRPr lang="en-I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278130" y="1085850"/>
          <a:ext cx="11779885" cy="6575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5580"/>
                <a:gridCol w="8825865"/>
                <a:gridCol w="1488440"/>
              </a:tblGrid>
              <a:tr h="50101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IN" alt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Ticket nu.</a:t>
                      </a:r>
                      <a:endParaRPr lang="en-IN" altLang="en-US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t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IN" altLang="en-US" sz="180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Summary</a:t>
                      </a:r>
                      <a:endParaRPr lang="en-IN" altLang="en-US" sz="1800" i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8417" marR="38417" marT="76517" marB="76517" anchor="t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IN" altLang="en-US" sz="180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Status</a:t>
                      </a:r>
                      <a:endParaRPr lang="en-IN" altLang="en-US" sz="1800" i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8417" marR="38417" marT="76517" marB="76517" anchor="t" anchorCtr="0"/>
                </a:tc>
              </a:tr>
              <a:tr h="50165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IN" alt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/>
                      </a:r>
                      <a:endParaRPr lang="en-IN" altLang="en-US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t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lang="en-US" altLang="en-US" sz="18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/>
                      </a:r>
                      <a:endParaRPr lang="en-US" altLang="en-US" sz="1800" b="0" i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8417" marR="38417" marT="76517" marB="76517" anchor="t" anchorCtr="0"/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  <a:buNone/>
                      </a:pPr>
                      <a:r>
                        <a:rPr lang="en-US" altLang="en-IN" sz="1800" b="0" i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/>
                      </a:r>
                      <a:endParaRPr lang="en-US" altLang="en-IN" sz="1800" b="0" i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38417" marR="38417" marT="76517" marB="76517" anchor="t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2280" y="635"/>
            <a:ext cx="4554855" cy="4451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Defect Summary</a:t>
            </a:r>
            <a:endParaRPr lang="en-US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446405"/>
          <a:ext cx="12192635" cy="918083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80160"/>
                <a:gridCol w="8064500"/>
                <a:gridCol w="1470025"/>
                <a:gridCol w="1377950"/>
              </a:tblGrid>
              <a:tr h="6007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Defect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Summary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Status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Story Points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IN" alt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/>
                      </a:r>
                      <a:endParaRPr lang="en-IN" altLang="en-US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buClrTx/>
                        <a:buSzTx/>
                        <a:buFontTx/>
                      </a:pPr>
                      <a:br>
                        <a:rPr sz="1100" b="0" i="0">
                          <a:solidFill>
                            <a:srgbClr val="292A2E"/>
                          </a:solidFill>
                          <a:latin typeface="Atlassian Sans"/>
                          <a:ea typeface="Atlassian Sans"/>
                        </a:rPr>
                      </a:br>
                      <a:r>
                        <a:rPr lang="en-US" altLang="en-US" sz="18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/>
                      </a:r>
                      <a:endParaRPr lang="en-US" altLang="en-US" sz="1800" b="0" i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8417" marR="38417" marT="76517" marB="765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altLang="en-US" sz="18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/>
                      </a:r>
                      <a:endParaRPr lang="en-US" altLang="en-US" sz="1800" b="0" i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8417" marR="38417" marT="76517" marB="76517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IN" alt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/>
                      </a:r>
                      <a:endParaRPr lang="en-IN" altLang="en-US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Feedback?</a:t>
            </a:r>
            <a:b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b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endParaRPr lang="en-IN" alt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Content Placeholder 2"/>
          <p:cNvSpPr/>
          <p:nvPr>
            <p:ph sz="quarter" idx="1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drape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1cbb3c138ef70698b8983e576e79280eff91eb0"/>
  <p:tag name="KSO_WM_NEWLAYOUT_ID" val="slide_0e3763c640ea4c61"/>
</p:tagLst>
</file>

<file path=ppt/tags/tag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3.xml><?xml version="1.0" encoding="utf-8"?>
<p:tagLst xmlns:p="http://schemas.openxmlformats.org/presentationml/2006/main">
  <p:tag name="TABLE_ENDDRAG_ORIGIN_RECT" val="6*405"/>
  <p:tag name="TABLE_ENDDRAG_RECT" val="474*76*6*405"/>
</p:tagLst>
</file>

<file path=ppt/tags/tag4.xml><?xml version="1.0" encoding="utf-8"?>
<p:tagLst xmlns:p="http://schemas.openxmlformats.org/presentationml/2006/main">
  <p:tag name="TABLE_ENDDRAG_ORIGIN_RECT" val="892*130"/>
  <p:tag name="TABLE_ENDDRAG_RECT" val="46*88*892*130"/>
</p:tagLst>
</file>

<file path=ppt/tags/tag5.xml><?xml version="1.0" encoding="utf-8"?>
<p:tagLst xmlns:p="http://schemas.openxmlformats.org/presentationml/2006/main">
  <p:tag name="TABLE_ENDDRAG_ORIGIN_RECT" val="452*92"/>
  <p:tag name="TABLE_ENDDRAG_RECT" val="46*238*452*92"/>
</p:tagLst>
</file>

<file path=ppt/tags/tag6.xml><?xml version="1.0" encoding="utf-8"?>
<p:tagLst xmlns:p="http://schemas.openxmlformats.org/presentationml/2006/main">
  <p:tag name="TABLE_ENDDRAG_ORIGIN_RECT" val="412*223"/>
  <p:tag name="TABLE_ENDDRAG_RECT" val="531*234*412*223"/>
</p:tagLst>
</file>

<file path=ppt/tags/tag7.xml><?xml version="1.0" encoding="utf-8"?>
<p:tagLst xmlns:p="http://schemas.openxmlformats.org/presentationml/2006/main">
  <p:tag name="TABLE_ENDDRAG_ORIGIN_RECT" val="938*274"/>
  <p:tag name="TABLE_ENDDRAG_RECT" val="21*85*938*274"/>
</p:tagLst>
</file>

<file path=ppt/tags/tag8.xml><?xml version="1.0" encoding="utf-8"?>
<p:tagLst xmlns:p="http://schemas.openxmlformats.org/presentationml/2006/main">
  <p:tag name="TABLE_ENDDRAG_ORIGIN_RECT" val="927*443"/>
  <p:tag name="TABLE_ENDDRAG_RECT" val="21*85*927*443"/>
</p:tagLst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4077</Words>
  <Application>WPS Presentation</Application>
  <PresentationFormat>Widescreen</PresentationFormat>
  <Paragraphs>288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SimSun</vt:lpstr>
      <vt:lpstr>Wingdings</vt:lpstr>
      <vt:lpstr>Segoe UI</vt:lpstr>
      <vt:lpstr>Calibri</vt:lpstr>
      <vt:lpstr>Segoe Print</vt:lpstr>
      <vt:lpstr>Wingdings</vt:lpstr>
      <vt:lpstr>Calibri</vt:lpstr>
      <vt:lpstr>-apple-system</vt:lpstr>
      <vt:lpstr>Atlassian Sans</vt:lpstr>
      <vt:lpstr>Segoe UI Light</vt:lpstr>
      <vt:lpstr>Microsoft YaHei</vt:lpstr>
      <vt:lpstr>Arial Unicode MS</vt:lpstr>
      <vt:lpstr>Segoe UI</vt:lpstr>
      <vt:lpstr>WelcomeDoc</vt:lpstr>
      <vt:lpstr>POD D Sprint Review</vt:lpstr>
      <vt:lpstr>	Sprint (POD_D_2026_27)</vt:lpstr>
      <vt:lpstr>Next Sprint 28_2026 Goals:</vt:lpstr>
      <vt:lpstr>Sprint Status</vt:lpstr>
      <vt:lpstr>                                Demo Tickets</vt:lpstr>
      <vt:lpstr>Defect Summary</vt:lpstr>
      <vt:lpstr>Feedback?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Sprint Review</dc:title>
  <dc:creator/>
  <cp:lastModifiedBy>Sanjeet Tiwari</cp:lastModifiedBy>
  <cp:revision>1624</cp:revision>
  <dcterms:created xsi:type="dcterms:W3CDTF">2022-08-10T17:09:00Z</dcterms:created>
  <dcterms:modified xsi:type="dcterms:W3CDTF">2026-10-13T15:03:04Z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0x010100D550098F648BB24EAF7566485B78112A</vt:lpwstr>
  </property>
  <property fmtid="{D5CDD505-2E9C-101B-9397-08002B2CF9AE}" pid="3" name="MediaServiceImageTags">
    <vt:lpwstr/>
  </property>
  <property fmtid="{D5CDD505-2E9C-101B-9397-08002B2CF9AE}" pid="4" name="KSOProductBuildVer">
    <vt:lpwstr>1033-12.1.0.28485</vt:lpwstr>
  </property>
  <property fmtid="{D5CDD505-2E9C-101B-9397-08002B2CF9AE}" pid="5" name="ICV">
    <vt:lpwstr>148470CBC1ED48F99BEA675BD0A96C7A</vt:lpwstr>
  </property>
</Properties>
</file>